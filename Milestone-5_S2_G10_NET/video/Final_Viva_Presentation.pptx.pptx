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Playfair Display Medium" charset="1" panose="00000000000000000000"/>
      <p:regular r:id="rId29"/>
    </p:embeddedFont>
    <p:embeddedFont>
      <p:font typeface="Playfair Display Bold" charset="1" panose="00000000000000000000"/>
      <p:regular r:id="rId30"/>
    </p:embeddedFont>
    <p:embeddedFont>
      <p:font typeface="Times New Roman MT" charset="1" panose="02030502070405020303"/>
      <p:regular r:id="rId31"/>
    </p:embeddedFont>
    <p:embeddedFont>
      <p:font typeface="Times New Roman MT Bold" charset="1" panose="02030802070405020303"/>
      <p:regular r:id="rId32"/>
    </p:embeddedFont>
    <p:embeddedFont>
      <p:font typeface="Playfair Display" charset="1" panose="0000000000000000000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jpeg" Type="http://schemas.openxmlformats.org/officeDocument/2006/relationships/image"/><Relationship Id="rId5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jpe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jpe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jpe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jpe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532892" y="7124428"/>
            <a:ext cx="5714060" cy="1933989"/>
            <a:chOff x="0" y="0"/>
            <a:chExt cx="6192114" cy="20957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192139" cy="2095754"/>
            </a:xfrm>
            <a:custGeom>
              <a:avLst/>
              <a:gdLst/>
              <a:ahLst/>
              <a:cxnLst/>
              <a:rect r="r" b="b" t="t" l="l"/>
              <a:pathLst>
                <a:path h="2095754" w="6192139">
                  <a:moveTo>
                    <a:pt x="0" y="0"/>
                  </a:moveTo>
                  <a:lnTo>
                    <a:pt x="6192139" y="0"/>
                  </a:lnTo>
                  <a:lnTo>
                    <a:pt x="6192139" y="2095754"/>
                  </a:lnTo>
                  <a:lnTo>
                    <a:pt x="0" y="2095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1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400359" y="2846341"/>
            <a:ext cx="13611689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  <a:spcBef>
                <a:spcPct val="0"/>
              </a:spcBef>
            </a:pPr>
            <a:r>
              <a:rPr lang="en-US" b="true" sz="4499">
                <a:solidFill>
                  <a:srgbClr val="7F1114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Implementati</a:t>
            </a:r>
            <a:r>
              <a:rPr lang="en-US" b="true" sz="4499">
                <a:solidFill>
                  <a:srgbClr val="7F1114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on of a PSO‑Based Security Defense Mechanism for Tracing the Sources of DDoS Attacks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400359" y="1028700"/>
            <a:ext cx="8439750" cy="1352550"/>
            <a:chOff x="0" y="0"/>
            <a:chExt cx="11253000" cy="1803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253000" cy="1803400"/>
            </a:xfrm>
            <a:custGeom>
              <a:avLst/>
              <a:gdLst/>
              <a:ahLst/>
              <a:cxnLst/>
              <a:rect r="r" b="b" t="t" l="l"/>
              <a:pathLst>
                <a:path h="1803400" w="11253000">
                  <a:moveTo>
                    <a:pt x="0" y="0"/>
                  </a:moveTo>
                  <a:lnTo>
                    <a:pt x="11253000" y="0"/>
                  </a:lnTo>
                  <a:lnTo>
                    <a:pt x="11253000" y="1803400"/>
                  </a:lnTo>
                  <a:lnTo>
                    <a:pt x="0" y="1803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7242" r="-86901" b="-17724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76200"/>
              <a:ext cx="11253000" cy="17272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 b="true">
                  <a:solidFill>
                    <a:srgbClr val="7D1916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Group 10 - Section 2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28700" y="5494004"/>
            <a:ext cx="7905216" cy="346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1535" indent="-485768" lvl="1">
              <a:lnSpc>
                <a:spcPts val="5399"/>
              </a:lnSpc>
              <a:buFont typeface="Arial"/>
              <a:buChar char="•"/>
            </a:pPr>
            <a:r>
              <a:rPr lang="en-US" sz="4499" strike="noStrike" u="none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Neel Patel </a:t>
            </a:r>
          </a:p>
          <a:p>
            <a:pPr algn="l" marL="971535" indent="-485768" lvl="1">
              <a:lnSpc>
                <a:spcPts val="5399"/>
              </a:lnSpc>
              <a:buFont typeface="Arial"/>
              <a:buChar char="•"/>
            </a:pPr>
            <a:r>
              <a:rPr lang="en-US" sz="4499" strike="noStrike" u="none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Het Patel</a:t>
            </a:r>
          </a:p>
          <a:p>
            <a:pPr algn="l" marL="971535" indent="-485768" lvl="1">
              <a:lnSpc>
                <a:spcPts val="5399"/>
              </a:lnSpc>
              <a:buFont typeface="Arial"/>
              <a:buChar char="•"/>
            </a:pPr>
            <a:r>
              <a:rPr lang="en-US" sz="4499" strike="noStrike" u="none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Nidhi Mehta</a:t>
            </a:r>
          </a:p>
          <a:p>
            <a:pPr algn="l" marL="971535" indent="-485768" lvl="1">
              <a:lnSpc>
                <a:spcPts val="5399"/>
              </a:lnSpc>
              <a:buFont typeface="Arial"/>
              <a:buChar char="•"/>
            </a:pPr>
            <a:r>
              <a:rPr lang="en-US" sz="4499" strike="noStrike" u="none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Aashi Bhimjiyani</a:t>
            </a:r>
          </a:p>
          <a:p>
            <a:pPr algn="l" marL="971535" indent="-485768" lvl="1">
              <a:lnSpc>
                <a:spcPts val="5399"/>
              </a:lnSpc>
              <a:buFont typeface="Arial"/>
              <a:buChar char="•"/>
            </a:pPr>
            <a:r>
              <a:rPr lang="en-US" sz="4499" strike="noStrike" u="none">
                <a:solidFill>
                  <a:srgbClr val="54545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Aryankumar Parmar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532892" y="7124428"/>
            <a:ext cx="5714060" cy="1933989"/>
            <a:chOff x="0" y="0"/>
            <a:chExt cx="6192114" cy="20957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192139" cy="2095754"/>
            </a:xfrm>
            <a:custGeom>
              <a:avLst/>
              <a:gdLst/>
              <a:ahLst/>
              <a:cxnLst/>
              <a:rect r="r" b="b" t="t" l="l"/>
              <a:pathLst>
                <a:path h="2095754" w="6192139">
                  <a:moveTo>
                    <a:pt x="0" y="0"/>
                  </a:moveTo>
                  <a:lnTo>
                    <a:pt x="6192139" y="0"/>
                  </a:lnTo>
                  <a:lnTo>
                    <a:pt x="6192139" y="2095754"/>
                  </a:lnTo>
                  <a:lnTo>
                    <a:pt x="0" y="2095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1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0" y="1095375"/>
            <a:ext cx="8672716" cy="767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</a:p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Citation</a:t>
            </a:r>
          </a:p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Lin, H.C., Wang, P., Lin, W.H. (2019)</a:t>
            </a:r>
          </a:p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PSO-Based Security </a:t>
            </a:r>
          </a:p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Defense for DDoS Traceback</a:t>
            </a:r>
          </a:p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Problem</a:t>
            </a:r>
          </a:p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IP spoofing makes attacker tracing </a:t>
            </a:r>
          </a:p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unreliable.</a:t>
            </a:r>
          </a:p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Need to reconstruct </a:t>
            </a:r>
          </a:p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attack paths from limited data</a:t>
            </a:r>
          </a:p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Methodology</a:t>
            </a:r>
          </a:p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SPIE packet logging (p = 0.03)</a:t>
            </a:r>
          </a:p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Particle Swarm Optimization (PSO)</a:t>
            </a:r>
          </a:p>
          <a:p>
            <a:pPr algn="ctr">
              <a:lnSpc>
                <a:spcPts val="432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895632" y="352425"/>
            <a:ext cx="6436321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  <a:spcBef>
                <a:spcPct val="0"/>
              </a:spcBef>
            </a:pPr>
            <a:r>
              <a:rPr lang="en-US" sz="5400">
                <a:solidFill>
                  <a:srgbClr val="7F111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Base Paper Overview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48937" y="1803029"/>
            <a:ext cx="6445832" cy="3876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Setup</a:t>
            </a:r>
          </a:p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1800 packets, 24-node network</a:t>
            </a:r>
          </a:p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9 attackers → 1 victim</a:t>
            </a:r>
          </a:p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30 particles, 500 iterations</a:t>
            </a:r>
          </a:p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Result</a:t>
            </a:r>
          </a:p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Accuracy ≈ 98%</a:t>
            </a:r>
          </a:p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Scalable to larger networks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91454" y="816369"/>
            <a:ext cx="15773400" cy="1096899"/>
            <a:chOff x="0" y="0"/>
            <a:chExt cx="21031200" cy="14625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1462533"/>
            </a:xfrm>
            <a:custGeom>
              <a:avLst/>
              <a:gdLst/>
              <a:ahLst/>
              <a:cxnLst/>
              <a:rect r="r" b="b" t="t" l="l"/>
              <a:pathLst>
                <a:path h="1462533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462533"/>
                  </a:lnTo>
                  <a:lnTo>
                    <a:pt x="0" y="14625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7989" r="0" b="-21239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57150"/>
              <a:ext cx="21031200" cy="1405382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 marL="0" indent="0" lvl="0">
                <a:lnSpc>
                  <a:spcPts val="5832"/>
                </a:lnSpc>
                <a:spcBef>
                  <a:spcPct val="0"/>
                </a:spcBef>
              </a:pPr>
              <a:r>
                <a:rPr lang="en-US" b="true" sz="5400" strike="noStrike" u="none">
                  <a:solidFill>
                    <a:srgbClr val="7F1114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Project Motivation &amp; Overview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891454" y="2185607"/>
            <a:ext cx="15590520" cy="5915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37" indent="-388618" lvl="1">
              <a:lnSpc>
                <a:spcPts val="3563"/>
              </a:lnSpc>
              <a:buFont typeface="Arial"/>
              <a:buChar char="•"/>
            </a:pPr>
            <a:r>
              <a:rPr lang="en-US" sz="3599" spc="9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</a:t>
            </a:r>
            <a:r>
              <a:rPr lang="en-US" sz="3599" spc="9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ddresses how to trace back the real sources of distributed denial-of-service (DDoS) attacks</a:t>
            </a:r>
          </a:p>
          <a:p>
            <a:pPr algn="l">
              <a:lnSpc>
                <a:spcPts val="3563"/>
              </a:lnSpc>
            </a:pPr>
          </a:p>
          <a:p>
            <a:pPr algn="l" marL="777237" indent="-388618" lvl="1">
              <a:lnSpc>
                <a:spcPts val="3563"/>
              </a:lnSpc>
              <a:buFont typeface="Arial"/>
              <a:buChar char="•"/>
            </a:pPr>
            <a:r>
              <a:rPr lang="en-US" sz="3599" spc="9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Existing work focuses on firewalls and intrusion detection systems, not on reconstructing the exact network routes taken by malicious packets.</a:t>
            </a:r>
          </a:p>
          <a:p>
            <a:pPr algn="l">
              <a:lnSpc>
                <a:spcPts val="3563"/>
              </a:lnSpc>
            </a:pPr>
          </a:p>
          <a:p>
            <a:pPr algn="l" marL="777237" indent="-388618" lvl="1">
              <a:lnSpc>
                <a:spcPts val="3563"/>
              </a:lnSpc>
              <a:buFont typeface="Arial"/>
              <a:buChar char="•"/>
            </a:pPr>
            <a:r>
              <a:rPr lang="en-US" sz="3599" spc="9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Concentrates on the IP traceback (IPTBK) problem</a:t>
            </a:r>
          </a:p>
          <a:p>
            <a:pPr algn="l">
              <a:lnSpc>
                <a:spcPts val="3563"/>
              </a:lnSpc>
            </a:pPr>
          </a:p>
          <a:p>
            <a:pPr algn="l" marL="777237" indent="-388618" lvl="1">
              <a:lnSpc>
                <a:spcPts val="3563"/>
              </a:lnSpc>
              <a:buFont typeface="Arial"/>
              <a:buChar char="•"/>
            </a:pPr>
            <a:r>
              <a:rPr lang="en-US" sz="3599" spc="9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Key idea is to use a modified Particle Swarm Optimization (PSO) algorithm together with a hash-based IP traceback mechanism called SPIE (Source Path Isolation Engine)</a:t>
            </a:r>
          </a:p>
          <a:p>
            <a:pPr algn="l">
              <a:lnSpc>
                <a:spcPts val="3563"/>
              </a:lnSpc>
            </a:pPr>
          </a:p>
          <a:p>
            <a:pPr algn="l" marL="777237" indent="-388618" lvl="1">
              <a:lnSpc>
                <a:spcPts val="3563"/>
              </a:lnSpc>
              <a:buFont typeface="Arial"/>
              <a:buChar char="•"/>
            </a:pPr>
            <a:r>
              <a:rPr lang="en-US" sz="3599" spc="9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efficiently reconstruct the most probable attack routes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324379" y="9197583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804915"/>
            <a:ext cx="15773400" cy="1096899"/>
            <a:chOff x="0" y="0"/>
            <a:chExt cx="21031200" cy="14625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1462530"/>
            </a:xfrm>
            <a:custGeom>
              <a:avLst/>
              <a:gdLst/>
              <a:ahLst/>
              <a:cxnLst/>
              <a:rect r="r" b="b" t="t" l="l"/>
              <a:pathLst>
                <a:path h="146253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462530"/>
                  </a:lnTo>
                  <a:lnTo>
                    <a:pt x="0" y="14625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2496" r="0" b="-20789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57150"/>
              <a:ext cx="21031200" cy="1405382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 marL="0" indent="0" lvl="0">
                <a:lnSpc>
                  <a:spcPts val="5832"/>
                </a:lnSpc>
                <a:spcBef>
                  <a:spcPct val="0"/>
                </a:spcBef>
              </a:pPr>
              <a:r>
                <a:rPr lang="en-US" b="true" sz="5400" strike="noStrike" u="none">
                  <a:solidFill>
                    <a:srgbClr val="7F1114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Problem Formulation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48740" y="1949439"/>
            <a:ext cx="15590520" cy="7248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82"/>
              </a:lnSpc>
            </a:pPr>
            <a:r>
              <a:rPr lang="en-US" sz="3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Understanding DDoS Attack Traceback involves several challenges:</a:t>
            </a:r>
          </a:p>
          <a:p>
            <a:pPr algn="l" marL="0" indent="0" lvl="0">
              <a:lnSpc>
                <a:spcPts val="3782"/>
              </a:lnSpc>
            </a:pPr>
          </a:p>
          <a:p>
            <a:pPr algn="l" marL="842008" indent="-421004" lvl="1">
              <a:lnSpc>
                <a:spcPts val="3782"/>
              </a:lnSpc>
              <a:buFont typeface="Arial"/>
              <a:buChar char="•"/>
            </a:pPr>
            <a:r>
              <a:rPr lang="en-US" sz="3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DDoS attacks use many distributed machines with spoofed IP addresses, complicating source identification.</a:t>
            </a:r>
          </a:p>
          <a:p>
            <a:pPr algn="l">
              <a:lnSpc>
                <a:spcPts val="3782"/>
              </a:lnSpc>
            </a:pPr>
          </a:p>
          <a:p>
            <a:pPr algn="l" marL="842008" indent="-421004" lvl="1">
              <a:lnSpc>
                <a:spcPts val="3782"/>
              </a:lnSpc>
              <a:buFont typeface="Arial"/>
              <a:buChar char="•"/>
            </a:pPr>
            <a:r>
              <a:rPr lang="en-US" sz="3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Key challenges include:</a:t>
            </a:r>
          </a:p>
          <a:p>
            <a:pPr algn="l" marL="1684017" indent="-561339" lvl="2">
              <a:lnSpc>
                <a:spcPts val="3782"/>
              </a:lnSpc>
              <a:buFont typeface="Arial"/>
              <a:buChar char="⚬"/>
            </a:pPr>
            <a:r>
              <a:rPr lang="en-US" sz="3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Massive traffic</a:t>
            </a:r>
          </a:p>
          <a:p>
            <a:pPr algn="l" marL="1684017" indent="-561339" lvl="2">
              <a:lnSpc>
                <a:spcPts val="3782"/>
              </a:lnSpc>
              <a:buFont typeface="Arial"/>
              <a:buChar char="⚬"/>
            </a:pPr>
            <a:r>
              <a:rPr lang="en-US" sz="3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Spoofed IP addresses</a:t>
            </a:r>
          </a:p>
          <a:p>
            <a:pPr algn="l" marL="1684017" indent="-561339" lvl="2">
              <a:lnSpc>
                <a:spcPts val="3782"/>
              </a:lnSpc>
              <a:buFont typeface="Arial"/>
              <a:buChar char="⚬"/>
            </a:pPr>
            <a:r>
              <a:rPr lang="en-US" sz="3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Limited router memory</a:t>
            </a:r>
          </a:p>
          <a:p>
            <a:pPr algn="l">
              <a:lnSpc>
                <a:spcPts val="3782"/>
              </a:lnSpc>
            </a:pPr>
          </a:p>
          <a:p>
            <a:pPr algn="l" marL="842008" indent="-421004" lvl="1">
              <a:lnSpc>
                <a:spcPts val="3782"/>
              </a:lnSpc>
              <a:buFont typeface="Arial"/>
              <a:buChar char="•"/>
            </a:pPr>
            <a:r>
              <a:rPr lang="en-US" sz="3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base paper aims to minimize routing packets and convergence time for effective traceback.</a:t>
            </a:r>
          </a:p>
          <a:p>
            <a:pPr algn="l">
              <a:lnSpc>
                <a:spcPts val="3782"/>
              </a:lnSpc>
            </a:pPr>
          </a:p>
          <a:p>
            <a:pPr algn="l" marL="0" indent="0" lvl="0">
              <a:lnSpc>
                <a:spcPts val="3782"/>
              </a:lnSpc>
            </a:pPr>
            <a:r>
              <a:rPr lang="en-US" sz="3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 proposed approach utilizes a PSO-based IP traceback model to identify potential attack paths by maximizing packet density along routes.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74334" y="812007"/>
            <a:ext cx="15773400" cy="1096899"/>
            <a:chOff x="0" y="0"/>
            <a:chExt cx="21031200" cy="14625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1462538"/>
            </a:xfrm>
            <a:custGeom>
              <a:avLst/>
              <a:gdLst/>
              <a:ahLst/>
              <a:cxnLst/>
              <a:rect r="r" b="b" t="t" l="l"/>
              <a:pathLst>
                <a:path h="1462538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462538"/>
                  </a:lnTo>
                  <a:lnTo>
                    <a:pt x="0" y="14625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3133" r="0" b="-20725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57150"/>
              <a:ext cx="21031200" cy="1405382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 marL="0" indent="0" lvl="0">
                <a:lnSpc>
                  <a:spcPts val="5832"/>
                </a:lnSpc>
                <a:spcBef>
                  <a:spcPct val="0"/>
                </a:spcBef>
              </a:pPr>
              <a:r>
                <a:rPr lang="en-US" b="true" sz="5400" strike="noStrike" u="none">
                  <a:solidFill>
                    <a:srgbClr val="7F1114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Case Study – GitHub DDoS Attack (2018)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74334" y="2270856"/>
            <a:ext cx="15590520" cy="6398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3888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 February 2018, GitHub faced a massive DDoS attack of about 1.35 Tbps using Memcached amplification from numerous servers. </a:t>
            </a:r>
          </a:p>
          <a:p>
            <a:pPr algn="l" marL="777240" indent="-388620" lvl="1">
              <a:lnSpc>
                <a:spcPts val="3888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attack's distributed nature and spoofed sources made identification difficult, and packet logging was impractical due to the traffic volume.</a:t>
            </a:r>
          </a:p>
          <a:p>
            <a:pPr algn="l" marL="0" indent="0" lvl="0">
              <a:lnSpc>
                <a:spcPts val="3888"/>
              </a:lnSpc>
            </a:pPr>
          </a:p>
          <a:p>
            <a:pPr algn="l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Connection to Our Project:</a:t>
            </a:r>
          </a:p>
          <a:p>
            <a:pPr algn="l" marL="777240" indent="-388620" lvl="1">
              <a:lnSpc>
                <a:spcPts val="3888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We tackle similar issues using a 3% probabilistic sampling method.</a:t>
            </a:r>
          </a:p>
          <a:p>
            <a:pPr algn="l" marL="777240" indent="-388620" lvl="1">
              <a:lnSpc>
                <a:spcPts val="3888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PSO-based IP traceback techniques help reconstruct attack paths from limited data.</a:t>
            </a:r>
          </a:p>
          <a:p>
            <a:pPr algn="l">
              <a:lnSpc>
                <a:spcPts val="3888"/>
              </a:lnSpc>
            </a:pPr>
          </a:p>
          <a:p>
            <a:pPr algn="l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Key Insight:</a:t>
            </a:r>
          </a:p>
          <a:p>
            <a:pPr algn="l" marL="651510" indent="-325755" lvl="1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Probabilistic methods enable accurate DDoS traceback even with incomplete information.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32939" y="9236116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57300" y="830961"/>
            <a:ext cx="15773400" cy="1096899"/>
            <a:chOff x="0" y="0"/>
            <a:chExt cx="21031200" cy="14625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1462533"/>
            </a:xfrm>
            <a:custGeom>
              <a:avLst/>
              <a:gdLst/>
              <a:ahLst/>
              <a:cxnLst/>
              <a:rect r="r" b="b" t="t" l="l"/>
              <a:pathLst>
                <a:path h="1462533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462533"/>
                  </a:lnTo>
                  <a:lnTo>
                    <a:pt x="0" y="14625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7989" r="0" b="-21239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57150"/>
              <a:ext cx="21031200" cy="1405382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 marL="0" indent="0" lvl="0">
                <a:lnSpc>
                  <a:spcPts val="5832"/>
                </a:lnSpc>
                <a:spcBef>
                  <a:spcPct val="0"/>
                </a:spcBef>
              </a:pPr>
              <a:r>
                <a:rPr lang="en-US" b="true" sz="5400" strike="noStrike" u="none">
                  <a:solidFill>
                    <a:srgbClr val="7F1114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System Overview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257300" y="1870710"/>
            <a:ext cx="15590520" cy="7387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2008" indent="-421004" lvl="1">
              <a:lnSpc>
                <a:spcPts val="4484"/>
              </a:lnSpc>
              <a:buFont typeface="Arial"/>
              <a:buChar char="•"/>
            </a:pPr>
            <a:r>
              <a:rPr lang="en-US" sz="3899" spc="5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Traffic &amp; Attack Generation: Simulated network with 24 nodes (9 attackers, 1 victim) generating DDoS traffic.</a:t>
            </a:r>
          </a:p>
          <a:p>
            <a:pPr algn="l" marL="842008" indent="-421004" lvl="1">
              <a:lnSpc>
                <a:spcPts val="4484"/>
              </a:lnSpc>
              <a:buFont typeface="Arial"/>
              <a:buChar char="•"/>
            </a:pPr>
            <a:r>
              <a:rPr lang="en-US" sz="3899" spc="5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Packet Logging: Routers log attack packets at a 3% rate using SPIE-style sampling.</a:t>
            </a:r>
          </a:p>
          <a:p>
            <a:pPr algn="l" marL="842008" indent="-421004" lvl="1">
              <a:lnSpc>
                <a:spcPts val="4484"/>
              </a:lnSpc>
              <a:buFont typeface="Arial"/>
              <a:buChar char="•"/>
            </a:pPr>
            <a:r>
              <a:rPr lang="en-US" sz="3899" spc="5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Log Collection: Post-attack, sampled packet digests are gathered into a traceback dataset for the victim.</a:t>
            </a:r>
          </a:p>
          <a:p>
            <a:pPr algn="l" marL="842008" indent="-421004" lvl="1">
              <a:lnSpc>
                <a:spcPts val="4484"/>
              </a:lnSpc>
              <a:buFont typeface="Arial"/>
              <a:buChar char="•"/>
            </a:pPr>
            <a:r>
              <a:rPr lang="en-US" sz="3899" spc="5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PSO-Based IP Traceback Module: Uses Particle Swarm Optimization to reconstruct paths from victim to attackers based on sampled logs.</a:t>
            </a:r>
          </a:p>
          <a:p>
            <a:pPr algn="l" marL="842008" indent="-421004" lvl="1">
              <a:lnSpc>
                <a:spcPts val="4484"/>
              </a:lnSpc>
              <a:buFont typeface="Arial"/>
              <a:buChar char="•"/>
            </a:pPr>
            <a:r>
              <a:rPr lang="en-US" sz="3899" spc="5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Evaluation &amp; Comparison: Metrics like accuracy and memory usage are compared to a deterministic method that logs all packets.</a:t>
            </a:r>
          </a:p>
          <a:p>
            <a:pPr algn="l">
              <a:lnSpc>
                <a:spcPts val="4484"/>
              </a:lnSpc>
            </a:pPr>
            <a:r>
              <a:rPr lang="en-US" sz="3899" spc="5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Output: The output shows reconstructed attack routes, achieving near-perfect traceback with only 3% of data sampled.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166252"/>
            <a:ext cx="15773400" cy="1096899"/>
            <a:chOff x="0" y="0"/>
            <a:chExt cx="21031200" cy="14625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31200" cy="1462538"/>
            </a:xfrm>
            <a:custGeom>
              <a:avLst/>
              <a:gdLst/>
              <a:ahLst/>
              <a:cxnLst/>
              <a:rect r="r" b="b" t="t" l="l"/>
              <a:pathLst>
                <a:path h="1462538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462538"/>
                  </a:lnTo>
                  <a:lnTo>
                    <a:pt x="0" y="14625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133" r="0" b="-20725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57150"/>
              <a:ext cx="21031200" cy="1405382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 marL="0" indent="0" lvl="0">
                <a:lnSpc>
                  <a:spcPts val="5832"/>
                </a:lnSpc>
                <a:spcBef>
                  <a:spcPct val="0"/>
                </a:spcBef>
              </a:pPr>
              <a:r>
                <a:rPr lang="en-US" b="true" sz="5400" strike="noStrike" u="none">
                  <a:solidFill>
                    <a:srgbClr val="7F1114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Key Assumptions</a:t>
              </a:r>
            </a:p>
          </p:txBody>
        </p:sp>
      </p:grp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1028700" y="1451497"/>
          <a:ext cx="16352397" cy="8056163"/>
        </p:xfrm>
        <a:graphic>
          <a:graphicData uri="http://schemas.openxmlformats.org/drawingml/2006/table">
            <a:tbl>
              <a:tblPr/>
              <a:tblGrid>
                <a:gridCol w="3577373"/>
                <a:gridCol w="4937583"/>
                <a:gridCol w="7837441"/>
              </a:tblGrid>
              <a:tr h="4860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No.</a:t>
                      </a:r>
                      <a:endParaRPr lang="en-US" sz="1100"/>
                    </a:p>
                  </a:txBody>
                  <a:tcPr marL="5848" marR="5848" marT="5848" marB="584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Assumption</a:t>
                      </a:r>
                      <a:endParaRPr lang="en-US" sz="1100"/>
                    </a:p>
                  </a:txBody>
                  <a:tcPr marL="5848" marR="5848" marT="5848" marB="584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Description</a:t>
                      </a:r>
                      <a:endParaRPr lang="en-US" sz="1100"/>
                    </a:p>
                  </a:txBody>
                  <a:tcPr marL="5848" marR="5848" marT="5848" marB="584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</a:tr>
              <a:tr h="84822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1</a:t>
                      </a:r>
                      <a:endParaRPr lang="en-US" sz="1100"/>
                    </a:p>
                  </a:txBody>
                  <a:tcPr marL="5848" marR="5848" marT="5848" marB="584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Independent Packet Sampling</a:t>
                      </a:r>
                      <a:endParaRPr lang="en-US" sz="1100"/>
                    </a:p>
                  </a:txBody>
                  <a:tcPr marL="5848" marR="5848" marT="5848" marB="584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Packet sampling is independent and follows a Bernoulli process with probability p = 0.03</a:t>
                      </a:r>
                      <a:endParaRPr lang="en-US" sz="1100"/>
                    </a:p>
                  </a:txBody>
                  <a:tcPr marL="5848" marR="5848" marT="5848" marB="584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</a:tr>
              <a:tr h="8213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2</a:t>
                      </a:r>
                      <a:endParaRPr lang="en-US" sz="1100"/>
                    </a:p>
                  </a:txBody>
                  <a:tcPr marL="5848" marR="5848" marT="5848" marB="584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Binomial Distribution</a:t>
                      </a:r>
                      <a:endParaRPr lang="en-US" sz="1100"/>
                    </a:p>
                  </a:txBody>
                  <a:tcPr marL="5848" marR="5848" marT="5848" marB="584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Total sampled packets follow N ~ Binomial(1800, 0.03)</a:t>
                      </a:r>
                      <a:endParaRPr lang="en-US" sz="1100"/>
                    </a:p>
                  </a:txBody>
                  <a:tcPr marL="5848" marR="5848" marT="5848" marB="584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</a:tr>
              <a:tr h="84822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3</a:t>
                      </a:r>
                      <a:endParaRPr lang="en-US" sz="1100"/>
                    </a:p>
                  </a:txBody>
                  <a:tcPr marL="5848" marR="5848" marT="5848" marB="584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Stationary Traffic</a:t>
                      </a:r>
                      <a:endParaRPr lang="en-US" sz="1100"/>
                    </a:p>
                  </a:txBody>
                  <a:tcPr marL="5848" marR="5848" marT="5848" marB="584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Network traffic is assumed to be stable over short time intervals</a:t>
                      </a:r>
                      <a:endParaRPr lang="en-US" sz="1100"/>
                    </a:p>
                  </a:txBody>
                  <a:tcPr marL="5848" marR="5848" marT="5848" marB="584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</a:tr>
              <a:tr h="122713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4</a:t>
                      </a:r>
                      <a:endParaRPr lang="en-US" sz="1100"/>
                    </a:p>
                  </a:txBody>
                  <a:tcPr marL="5848" marR="5848" marT="5848" marB="584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High Attack Traffic Density</a:t>
                      </a:r>
                      <a:endParaRPr lang="en-US" sz="1100"/>
                    </a:p>
                  </a:txBody>
                  <a:tcPr marL="5848" marR="5848" marT="5848" marB="584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Attack traffic has higher packet density than normal traffic, resulting in higher coverage values</a:t>
                      </a:r>
                      <a:endParaRPr lang="en-US" sz="1100"/>
                    </a:p>
                  </a:txBody>
                  <a:tcPr marL="5848" marR="5848" marT="5848" marB="584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</a:tr>
              <a:tr h="8213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5</a:t>
                      </a:r>
                      <a:endParaRPr lang="en-US" sz="1100"/>
                    </a:p>
                  </a:txBody>
                  <a:tcPr marL="5848" marR="5848" marT="5848" marB="584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Fixed Network Topology</a:t>
                      </a:r>
                      <a:endParaRPr lang="en-US" sz="1100"/>
                    </a:p>
                  </a:txBody>
                  <a:tcPr marL="5848" marR="5848" marT="5848" marB="584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Network is modeled as a static graph G = (V, E)</a:t>
                      </a:r>
                      <a:endParaRPr lang="en-US" sz="1100"/>
                    </a:p>
                  </a:txBody>
                  <a:tcPr marL="5848" marR="5848" marT="5848" marB="584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</a:tr>
              <a:tr h="8213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6</a:t>
                      </a:r>
                      <a:endParaRPr lang="en-US" sz="1100"/>
                    </a:p>
                  </a:txBody>
                  <a:tcPr marL="5848" marR="5848" marT="5848" marB="584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Shortest Path Routing</a:t>
                      </a:r>
                      <a:endParaRPr lang="en-US" sz="1100"/>
                    </a:p>
                  </a:txBody>
                  <a:tcPr marL="5848" marR="5848" marT="5848" marB="584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Packets follow shortest path routing from source to victim</a:t>
                      </a:r>
                      <a:endParaRPr lang="en-US" sz="1100"/>
                    </a:p>
                  </a:txBody>
                  <a:tcPr marL="5848" marR="5848" marT="5848" marB="584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</a:tr>
              <a:tr h="4860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7</a:t>
                      </a:r>
                      <a:endParaRPr lang="en-US" sz="1100"/>
                    </a:p>
                  </a:txBody>
                  <a:tcPr marL="5848" marR="5848" marT="5848" marB="584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Uniform Randomness in PSO</a:t>
                      </a:r>
                      <a:endParaRPr lang="en-US" sz="1100"/>
                    </a:p>
                  </a:txBody>
                  <a:tcPr marL="5848" marR="5848" marT="5848" marB="584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PSO uses r1, r2 ~ U(0,1) for stochastic search</a:t>
                      </a:r>
                      <a:endParaRPr lang="en-US" sz="1100"/>
                    </a:p>
                  </a:txBody>
                  <a:tcPr marL="5848" marR="5848" marT="5848" marB="584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</a:tr>
              <a:tr h="84822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8</a:t>
                      </a:r>
                      <a:endParaRPr lang="en-US" sz="1100"/>
                    </a:p>
                  </a:txBody>
                  <a:tcPr marL="5848" marR="5848" marT="5848" marB="584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Coverage as Metric</a:t>
                      </a:r>
                      <a:endParaRPr lang="en-US" sz="1100"/>
                    </a:p>
                  </a:txBody>
                  <a:tcPr marL="5848" marR="5848" marT="5848" marB="584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Coverage is assumed to be a reliable metric for identifying attack paths</a:t>
                      </a:r>
                      <a:endParaRPr lang="en-US" sz="1100"/>
                    </a:p>
                  </a:txBody>
                  <a:tcPr marL="5848" marR="5848" marT="5848" marB="584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</a:tr>
              <a:tr h="84822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9</a:t>
                      </a:r>
                      <a:endParaRPr lang="en-US" sz="1100"/>
                    </a:p>
                  </a:txBody>
                  <a:tcPr marL="5848" marR="5848" marT="5848" marB="584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Fixed Threshold</a:t>
                      </a:r>
                      <a:endParaRPr lang="en-US" sz="1100"/>
                    </a:p>
                  </a:txBody>
                  <a:tcPr marL="5848" marR="5848" marT="5848" marB="584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A threshold of approximately 30% coverage is used to classify attackers</a:t>
                      </a:r>
                      <a:endParaRPr lang="en-US" sz="1100"/>
                    </a:p>
                  </a:txBody>
                  <a:tcPr marL="5848" marR="5848" marT="5848" marB="584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E"/>
                    </a:solidFill>
                  </a:tcPr>
                </a:tc>
              </a:tr>
            </a:tbl>
          </a:graphicData>
        </a:graphic>
      </p:graphicFrame>
      <p:grpSp>
        <p:nvGrpSpPr>
          <p:cNvPr name="Group 12" id="12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2571" t="-164491" r="-72154" b="-164855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695360"/>
            <a:ext cx="15773400" cy="1096899"/>
            <a:chOff x="0" y="0"/>
            <a:chExt cx="21031200" cy="14625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1462533"/>
            </a:xfrm>
            <a:custGeom>
              <a:avLst/>
              <a:gdLst/>
              <a:ahLst/>
              <a:cxnLst/>
              <a:rect r="r" b="b" t="t" l="l"/>
              <a:pathLst>
                <a:path h="1462533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462533"/>
                  </a:lnTo>
                  <a:lnTo>
                    <a:pt x="0" y="14625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7989" r="0" b="-21239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57150"/>
              <a:ext cx="21031200" cy="1405382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 marL="0" indent="0" lvl="0">
                <a:lnSpc>
                  <a:spcPts val="5832"/>
                </a:lnSpc>
                <a:spcBef>
                  <a:spcPct val="0"/>
                </a:spcBef>
              </a:pPr>
              <a:r>
                <a:rPr lang="en-US" b="true" sz="5400" strike="noStrike" u="none">
                  <a:solidFill>
                    <a:srgbClr val="7F1114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Mathematical Model (M2) – Sampling Bound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898078" y="1839884"/>
            <a:ext cx="8539385" cy="6808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  <a:spcBef>
                <a:spcPct val="0"/>
              </a:spcBef>
            </a:pPr>
          </a:p>
          <a:p>
            <a:pPr algn="l" marL="777240" indent="-388620" lvl="1">
              <a:lnSpc>
                <a:spcPts val="3888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Each packet sampled independently</a:t>
            </a:r>
          </a:p>
          <a:p>
            <a:pPr algn="ctr">
              <a:lnSpc>
                <a:spcPts val="3888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→ Bernoulli(p = 0.03)</a:t>
            </a:r>
          </a:p>
          <a:p>
            <a:pPr algn="l" marL="777240" indent="-388620" lvl="1">
              <a:lnSpc>
                <a:spcPts val="3888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Total sampled packets</a:t>
            </a:r>
          </a:p>
          <a:p>
            <a:pPr algn="ctr">
              <a:lnSpc>
                <a:spcPts val="3888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→ N ~ Binomial(1800, 0.03)</a:t>
            </a:r>
          </a:p>
          <a:p>
            <a:pPr algn="l" marL="777240" indent="-388620" lvl="1">
              <a:lnSpc>
                <a:spcPts val="3888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Expected value</a:t>
            </a:r>
          </a:p>
          <a:p>
            <a:pPr algn="ctr">
              <a:lnSpc>
                <a:spcPts val="3888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→ E[N] = 54</a:t>
            </a:r>
          </a:p>
          <a:p>
            <a:pPr algn="l" marL="777240" indent="-388620" lvl="1">
              <a:lnSpc>
                <a:spcPts val="3888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95% Confidence Interval</a:t>
            </a:r>
          </a:p>
          <a:p>
            <a:pPr algn="ctr">
              <a:lnSpc>
                <a:spcPts val="3888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→ Range: [40, 68]</a:t>
            </a:r>
          </a:p>
          <a:p>
            <a:pPr algn="l" marL="777240" indent="-388620" lvl="1">
              <a:lnSpc>
                <a:spcPts val="3888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Interpretation</a:t>
            </a:r>
          </a:p>
          <a:p>
            <a:pPr algn="ctr">
              <a:lnSpc>
                <a:spcPts val="3888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→ &lt;40 → insufficient data</a:t>
            </a:r>
          </a:p>
          <a:p>
            <a:pPr algn="ctr">
              <a:lnSpc>
                <a:spcPts val="3888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→ &gt;68 → rare case</a:t>
            </a:r>
          </a:p>
          <a:p>
            <a:pPr algn="l" marL="777240" indent="-388620" lvl="1">
              <a:lnSpc>
                <a:spcPts val="3888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Validation</a:t>
            </a:r>
          </a:p>
          <a:p>
            <a:pPr algn="ctr">
              <a:lnSpc>
                <a:spcPts val="3888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→ Observed ≈ 52–58 ✔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57300" y="896495"/>
            <a:ext cx="15773400" cy="1096899"/>
            <a:chOff x="0" y="0"/>
            <a:chExt cx="21031200" cy="14625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1462533"/>
            </a:xfrm>
            <a:custGeom>
              <a:avLst/>
              <a:gdLst/>
              <a:ahLst/>
              <a:cxnLst/>
              <a:rect r="r" b="b" t="t" l="l"/>
              <a:pathLst>
                <a:path h="1462533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462533"/>
                  </a:lnTo>
                  <a:lnTo>
                    <a:pt x="0" y="14625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7989" r="0" b="-21239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57150"/>
              <a:ext cx="21031200" cy="1405382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 marL="0" indent="0" lvl="0">
                <a:lnSpc>
                  <a:spcPts val="5832"/>
                </a:lnSpc>
                <a:spcBef>
                  <a:spcPct val="0"/>
                </a:spcBef>
              </a:pPr>
              <a:r>
                <a:rPr lang="en-US" b="true" sz="5400" strike="noStrike" u="none">
                  <a:solidFill>
                    <a:srgbClr val="7F1114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Deterministic Baseline (M3)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28700" y="2383372"/>
            <a:ext cx="7528237" cy="581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5801" indent="-352901" lvl="1">
              <a:lnSpc>
                <a:spcPts val="3790"/>
              </a:lnSpc>
              <a:buFont typeface="Arial"/>
              <a:buChar char="•"/>
            </a:pPr>
            <a:r>
              <a:rPr lang="en-US" sz="3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All packets logged (no sampling) </a:t>
            </a:r>
          </a:p>
          <a:p>
            <a:pPr algn="l" marL="705801" indent="-352901" lvl="1">
              <a:lnSpc>
                <a:spcPts val="3790"/>
              </a:lnSpc>
              <a:buFont typeface="Arial"/>
              <a:buChar char="•"/>
            </a:pPr>
            <a:r>
              <a:rPr lang="en-US" sz="3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Shortest-path based traceback </a:t>
            </a:r>
          </a:p>
          <a:p>
            <a:pPr algn="l" marL="705801" indent="-352901" lvl="1">
              <a:lnSpc>
                <a:spcPts val="3790"/>
              </a:lnSpc>
            </a:pPr>
          </a:p>
          <a:p>
            <a:pPr algn="l" marL="705801" indent="-352901" lvl="1">
              <a:lnSpc>
                <a:spcPts val="3790"/>
              </a:lnSpc>
            </a:pPr>
            <a:r>
              <a:rPr lang="en-US" b="true" sz="38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Results:</a:t>
            </a:r>
          </a:p>
          <a:p>
            <a:pPr algn="l" marL="705801" indent="-352901" lvl="1">
              <a:lnSpc>
                <a:spcPts val="3790"/>
              </a:lnSpc>
              <a:buFont typeface="Arial"/>
              <a:buChar char="•"/>
            </a:pPr>
            <a:r>
              <a:rPr lang="en-US" sz="3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Accuracy: 100% </a:t>
            </a:r>
          </a:p>
          <a:p>
            <a:pPr algn="l" marL="705801" indent="-352901" lvl="1">
              <a:lnSpc>
                <a:spcPts val="3790"/>
              </a:lnSpc>
              <a:buFont typeface="Arial"/>
              <a:buChar char="•"/>
            </a:pPr>
            <a:r>
              <a:rPr lang="en-US" sz="3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Coverage: 33.33% </a:t>
            </a:r>
          </a:p>
          <a:p>
            <a:pPr algn="l" marL="705801" indent="-352901" lvl="1">
              <a:lnSpc>
                <a:spcPts val="3790"/>
              </a:lnSpc>
              <a:buFont typeface="Arial"/>
              <a:buChar char="•"/>
            </a:pPr>
            <a:r>
              <a:rPr lang="en-US" sz="3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Packets stored: 1800 </a:t>
            </a:r>
          </a:p>
          <a:p>
            <a:pPr algn="l" marL="705801" indent="-352901" lvl="1">
              <a:lnSpc>
                <a:spcPts val="3790"/>
              </a:lnSpc>
            </a:pPr>
          </a:p>
          <a:p>
            <a:pPr algn="l" marL="705801" indent="-352901" lvl="1">
              <a:lnSpc>
                <a:spcPts val="3790"/>
              </a:lnSpc>
            </a:pPr>
          </a:p>
          <a:p>
            <a:pPr algn="l" marL="705801" indent="-352901" lvl="1">
              <a:lnSpc>
                <a:spcPts val="3790"/>
              </a:lnSpc>
            </a:pPr>
            <a:r>
              <a:rPr lang="en-US" sz="3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Limitation: Not scalable (high memory usage)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778154" y="2174369"/>
            <a:ext cx="8481146" cy="6226885"/>
          </a:xfrm>
          <a:custGeom>
            <a:avLst/>
            <a:gdLst/>
            <a:ahLst/>
            <a:cxnLst/>
            <a:rect r="r" b="b" t="t" l="l"/>
            <a:pathLst>
              <a:path h="6226885" w="8481146">
                <a:moveTo>
                  <a:pt x="0" y="0"/>
                </a:moveTo>
                <a:lnTo>
                  <a:pt x="8481146" y="0"/>
                </a:lnTo>
                <a:lnTo>
                  <a:pt x="8481146" y="6226885"/>
                </a:lnTo>
                <a:lnTo>
                  <a:pt x="0" y="62268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98433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65317" y="9236116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91454" y="400050"/>
            <a:ext cx="15773400" cy="1096899"/>
            <a:chOff x="0" y="0"/>
            <a:chExt cx="21031200" cy="14625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1462533"/>
            </a:xfrm>
            <a:custGeom>
              <a:avLst/>
              <a:gdLst/>
              <a:ahLst/>
              <a:cxnLst/>
              <a:rect r="r" b="b" t="t" l="l"/>
              <a:pathLst>
                <a:path h="1462533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462533"/>
                  </a:lnTo>
                  <a:lnTo>
                    <a:pt x="0" y="14625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7989" r="0" b="-21239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57150"/>
              <a:ext cx="21031200" cy="1405382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 marL="0" indent="0" lvl="0">
                <a:lnSpc>
                  <a:spcPts val="5832"/>
                </a:lnSpc>
                <a:spcBef>
                  <a:spcPct val="0"/>
                </a:spcBef>
              </a:pPr>
              <a:r>
                <a:rPr lang="en-US" b="true" sz="5400" strike="noStrike" u="none">
                  <a:solidFill>
                    <a:srgbClr val="7F1114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Probabilistic Approach (M4)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289678" y="1477899"/>
            <a:ext cx="15708644" cy="7925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7"/>
              </a:lnSpc>
            </a:pPr>
            <a:r>
              <a:rPr lang="en-US" b="true" sz="3699" spc="114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The packet sampling model involves:</a:t>
            </a:r>
          </a:p>
          <a:p>
            <a:pPr algn="l" marL="798829" indent="-399415" lvl="1">
              <a:lnSpc>
                <a:spcPts val="3847"/>
              </a:lnSpc>
              <a:buFont typeface="Arial"/>
              <a:buChar char="•"/>
            </a:pPr>
            <a:r>
              <a:rPr lang="en-US" sz="3699" spc="11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Each packet decision sampled with Bernoulli(p = 0.03).</a:t>
            </a:r>
          </a:p>
          <a:p>
            <a:pPr algn="l" marL="798829" indent="-399415" lvl="1">
              <a:lnSpc>
                <a:spcPts val="3847"/>
              </a:lnSpc>
              <a:buFont typeface="Arial"/>
              <a:buChar char="•"/>
            </a:pPr>
            <a:r>
              <a:rPr lang="en-US" sz="3699" spc="11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Total packets sampled modeled as Binomial(1800, 0.03).</a:t>
            </a:r>
          </a:p>
          <a:p>
            <a:pPr algn="l" marL="798829" indent="-399415" lvl="1">
              <a:lnSpc>
                <a:spcPts val="3847"/>
              </a:lnSpc>
              <a:buFont typeface="Arial"/>
              <a:buChar char="•"/>
            </a:pPr>
            <a:r>
              <a:rPr lang="en-US" sz="3699" spc="11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Random coefficients in velocity updates enable stochastic exploration, avoiding deterministic searches.</a:t>
            </a:r>
          </a:p>
          <a:p>
            <a:pPr algn="l" marL="798829" indent="-399415" lvl="1">
              <a:lnSpc>
                <a:spcPts val="3847"/>
              </a:lnSpc>
              <a:buFont typeface="Arial"/>
              <a:buChar char="•"/>
            </a:pPr>
            <a:r>
              <a:rPr lang="en-US" sz="3699" spc="11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Positions are updated probabilistically based on velocity thresholds.</a:t>
            </a:r>
          </a:p>
          <a:p>
            <a:pPr algn="l">
              <a:lnSpc>
                <a:spcPts val="3847"/>
              </a:lnSpc>
            </a:pPr>
          </a:p>
          <a:p>
            <a:pPr algn="l" marL="0" indent="0" lvl="0">
              <a:lnSpc>
                <a:spcPts val="3847"/>
              </a:lnSpc>
            </a:pPr>
            <a:r>
              <a:rPr lang="en-US" b="true" sz="3699" spc="114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Outcomes of the randomized approach include:</a:t>
            </a:r>
          </a:p>
          <a:p>
            <a:pPr algn="l" marL="798829" indent="-399415" lvl="1">
              <a:lnSpc>
                <a:spcPts val="3847"/>
              </a:lnSpc>
              <a:buFont typeface="Arial"/>
              <a:buChar char="•"/>
            </a:pPr>
            <a:r>
              <a:rPr lang="en-US" sz="3699" spc="11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Using ~3% of packet data reconstructs all 9 attack paths with 96-100% accuracy.</a:t>
            </a:r>
          </a:p>
          <a:p>
            <a:pPr algn="l" marL="798829" indent="-399415" lvl="1">
              <a:lnSpc>
                <a:spcPts val="3847"/>
              </a:lnSpc>
              <a:buFont typeface="Arial"/>
              <a:buChar char="•"/>
            </a:pPr>
            <a:r>
              <a:rPr lang="en-US" sz="3699" spc="11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Achieves 97% memory savings compared to full logging.</a:t>
            </a:r>
          </a:p>
          <a:p>
            <a:pPr algn="l" marL="798829" indent="-399415" lvl="1">
              <a:lnSpc>
                <a:spcPts val="3847"/>
              </a:lnSpc>
              <a:buFont typeface="Arial"/>
              <a:buChar char="•"/>
            </a:pPr>
            <a:r>
              <a:rPr lang="en-US" sz="3699" spc="11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Confirms theoretical predictions for sampled packet statistics and shows robust PSO convergence in ~51-150 iterations.</a:t>
            </a:r>
          </a:p>
          <a:p>
            <a:pPr algn="l">
              <a:lnSpc>
                <a:spcPts val="3847"/>
              </a:lnSpc>
            </a:pPr>
          </a:p>
          <a:p>
            <a:pPr algn="l">
              <a:lnSpc>
                <a:spcPts val="4055"/>
              </a:lnSpc>
            </a:pPr>
            <a:r>
              <a:rPr lang="en-US" b="true" sz="3899" spc="12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Combines Bernoulli/Binomial sampling with stochastic PSO search in path space.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65317" y="9236116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91454" y="400050"/>
            <a:ext cx="15773400" cy="1096899"/>
            <a:chOff x="0" y="0"/>
            <a:chExt cx="21031200" cy="14625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1462533"/>
            </a:xfrm>
            <a:custGeom>
              <a:avLst/>
              <a:gdLst/>
              <a:ahLst/>
              <a:cxnLst/>
              <a:rect r="r" b="b" t="t" l="l"/>
              <a:pathLst>
                <a:path h="1462533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462533"/>
                  </a:lnTo>
                  <a:lnTo>
                    <a:pt x="0" y="14625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7989" r="0" b="-21239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57150"/>
              <a:ext cx="21031200" cy="1405382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 marL="0" indent="0" lvl="0">
                <a:lnSpc>
                  <a:spcPts val="5832"/>
                </a:lnSpc>
                <a:spcBef>
                  <a:spcPct val="0"/>
                </a:spcBef>
              </a:pPr>
              <a:r>
                <a:rPr lang="en-US" b="true" sz="5400" strike="noStrike" u="none">
                  <a:solidFill>
                    <a:srgbClr val="7F1114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Probabilistic Approach (M4)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451870" y="2518611"/>
            <a:ext cx="11384261" cy="587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Coverage Bound (Fitness Constraint)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Coverage = sampled packets on path / total samples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Threshold condition</a:t>
            </a:r>
          </a:p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→ Coverage &gt; 25% → Valid path</a:t>
            </a:r>
          </a:p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→ ≤25% → Rejected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Practical range</a:t>
            </a:r>
          </a:p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→ Typically 30–70%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Insight</a:t>
            </a:r>
          </a:p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→ Higher coverage = higher confidence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91454" y="400050"/>
            <a:ext cx="15773400" cy="1096899"/>
            <a:chOff x="0" y="0"/>
            <a:chExt cx="21031200" cy="14625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1462534"/>
            </a:xfrm>
            <a:custGeom>
              <a:avLst/>
              <a:gdLst/>
              <a:ahLst/>
              <a:cxnLst/>
              <a:rect r="r" b="b" t="t" l="l"/>
              <a:pathLst>
                <a:path h="1462534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462534"/>
                  </a:lnTo>
                  <a:lnTo>
                    <a:pt x="0" y="146253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3771" r="0" b="-20661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57150"/>
              <a:ext cx="21031200" cy="1405382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 marL="0" indent="0" lvl="0">
                <a:lnSpc>
                  <a:spcPts val="5832"/>
                </a:lnSpc>
                <a:spcBef>
                  <a:spcPct val="0"/>
                </a:spcBef>
              </a:pPr>
              <a:r>
                <a:rPr lang="en-US" b="true" sz="5400" strike="noStrike" u="none">
                  <a:solidFill>
                    <a:srgbClr val="7F1114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Mathematical Equations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28700" y="1574835"/>
            <a:ext cx="15526903" cy="2740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3609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Velocity Update:</a:t>
            </a:r>
          </a:p>
          <a:p>
            <a:pPr algn="l">
              <a:lnSpc>
                <a:spcPts val="2168"/>
              </a:lnSpc>
            </a:pPr>
          </a:p>
          <a:p>
            <a:pPr algn="l">
              <a:lnSpc>
                <a:spcPts val="2168"/>
              </a:lnSpc>
            </a:pPr>
          </a:p>
          <a:p>
            <a:pPr algn="l">
              <a:lnSpc>
                <a:spcPts val="2168"/>
              </a:lnSpc>
            </a:pPr>
          </a:p>
          <a:p>
            <a:pPr algn="l">
              <a:lnSpc>
                <a:spcPts val="3118"/>
              </a:lnSpc>
            </a:pPr>
            <a:r>
              <a:rPr lang="en-US" sz="3609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Position Update:</a:t>
            </a:r>
          </a:p>
          <a:p>
            <a:pPr algn="l">
              <a:lnSpc>
                <a:spcPts val="2168"/>
              </a:lnSpc>
            </a:pPr>
          </a:p>
          <a:p>
            <a:pPr algn="l">
              <a:lnSpc>
                <a:spcPts val="2168"/>
              </a:lnSpc>
            </a:pPr>
          </a:p>
          <a:p>
            <a:pPr algn="l">
              <a:lnSpc>
                <a:spcPts val="2168"/>
              </a:lnSpc>
            </a:pPr>
          </a:p>
          <a:p>
            <a:pPr algn="l">
              <a:lnSpc>
                <a:spcPts val="2168"/>
              </a:lnSpc>
            </a:pP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65742" y="893791"/>
            <a:ext cx="14971834" cy="2880652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83431" y="2742232"/>
            <a:ext cx="6787290" cy="1602013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42579" y="3629128"/>
            <a:ext cx="8233454" cy="548704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91454" y="400050"/>
            <a:ext cx="15773400" cy="1096899"/>
            <a:chOff x="0" y="0"/>
            <a:chExt cx="21031200" cy="14625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1462534"/>
            </a:xfrm>
            <a:custGeom>
              <a:avLst/>
              <a:gdLst/>
              <a:ahLst/>
              <a:cxnLst/>
              <a:rect r="r" b="b" t="t" l="l"/>
              <a:pathLst>
                <a:path h="1462534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462534"/>
                  </a:lnTo>
                  <a:lnTo>
                    <a:pt x="0" y="146253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3771" r="0" b="-20661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57150"/>
              <a:ext cx="21031200" cy="1405382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 marL="0" indent="0" lvl="0">
                <a:lnSpc>
                  <a:spcPts val="5832"/>
                </a:lnSpc>
                <a:spcBef>
                  <a:spcPct val="0"/>
                </a:spcBef>
              </a:pPr>
              <a:r>
                <a:rPr lang="en-US" b="true" sz="5400" strike="noStrike" u="none">
                  <a:solidFill>
                    <a:srgbClr val="7F1114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Mathematical Equations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481909" y="2418108"/>
            <a:ext cx="9324181" cy="5938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  <a:spcBef>
                <a:spcPct val="0"/>
              </a:spcBef>
            </a:pPr>
            <a:r>
              <a:rPr lang="en-US" b="true" sz="42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Convergence Control (Oscillation Bound)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Stagnation condition</a:t>
            </a:r>
          </a:p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→ |f(t) − f(t−1)| &lt; 0.001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If occurs for 3 iterations </a:t>
            </a: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             → oscillation detected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Action</a:t>
            </a:r>
          </a:p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→ Velocity reduced (ρ = 0.5)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Result</a:t>
            </a:r>
          </a:p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→ Faster convergence (~51 iterations)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93022" y="453663"/>
            <a:ext cx="17101955" cy="8604755"/>
            <a:chOff x="0" y="0"/>
            <a:chExt cx="24384000" cy="1226867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84000" cy="12268650"/>
            </a:xfrm>
            <a:custGeom>
              <a:avLst/>
              <a:gdLst/>
              <a:ahLst/>
              <a:cxnLst/>
              <a:rect r="r" b="b" t="t" l="l"/>
              <a:pathLst>
                <a:path h="122686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268650"/>
                  </a:lnTo>
                  <a:lnTo>
                    <a:pt x="0" y="12268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063" r="0" b="-1063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33907" y="681422"/>
            <a:ext cx="15773400" cy="1096899"/>
            <a:chOff x="0" y="0"/>
            <a:chExt cx="21031200" cy="14625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1462530"/>
            </a:xfrm>
            <a:custGeom>
              <a:avLst/>
              <a:gdLst/>
              <a:ahLst/>
              <a:cxnLst/>
              <a:rect r="r" b="b" t="t" l="l"/>
              <a:pathLst>
                <a:path h="146253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462530"/>
                  </a:lnTo>
                  <a:lnTo>
                    <a:pt x="0" y="14625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2496" r="0" b="-20789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57150"/>
              <a:ext cx="21031200" cy="1405382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 marL="0" indent="0" lvl="0">
                <a:lnSpc>
                  <a:spcPts val="5832"/>
                </a:lnSpc>
                <a:spcBef>
                  <a:spcPct val="0"/>
                </a:spcBef>
              </a:pPr>
              <a:r>
                <a:rPr lang="en-US" b="true" sz="5400" strike="noStrike" u="none">
                  <a:solidFill>
                    <a:srgbClr val="7F1114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Coding &amp; Simulation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8746762" y="1758561"/>
            <a:ext cx="9155865" cy="6769879"/>
          </a:xfrm>
          <a:custGeom>
            <a:avLst/>
            <a:gdLst/>
            <a:ahLst/>
            <a:cxnLst/>
            <a:rect r="r" b="b" t="t" l="l"/>
            <a:pathLst>
              <a:path h="6769879" w="9155865">
                <a:moveTo>
                  <a:pt x="0" y="0"/>
                </a:moveTo>
                <a:lnTo>
                  <a:pt x="9155865" y="0"/>
                </a:lnTo>
                <a:lnTo>
                  <a:pt x="9155865" y="6769878"/>
                </a:lnTo>
                <a:lnTo>
                  <a:pt x="0" y="67698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655" r="0" b="-82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33907" y="2361293"/>
            <a:ext cx="8012855" cy="4766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b="true" sz="3889" spc="8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Implementation: Python (graph-based network)</a:t>
            </a: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3360"/>
              </a:lnSpc>
            </a:pPr>
            <a:r>
              <a:rPr lang="en-US" b="true" sz="3889" spc="8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Modules:</a:t>
            </a:r>
          </a:p>
          <a:p>
            <a:pPr algn="l" marL="703988" indent="-351994" lvl="1">
              <a:lnSpc>
                <a:spcPts val="4240"/>
              </a:lnSpc>
              <a:buFont typeface="Arial"/>
              <a:buChar char="•"/>
            </a:pPr>
            <a:r>
              <a:rPr lang="en-US" sz="3889" spc="8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attack_simulator.py → traffic + sampling </a:t>
            </a:r>
          </a:p>
          <a:p>
            <a:pPr algn="l" marL="703988" indent="-351994" lvl="1">
              <a:lnSpc>
                <a:spcPts val="4240"/>
              </a:lnSpc>
              <a:buFont typeface="Arial"/>
              <a:buChar char="•"/>
            </a:pPr>
            <a:r>
              <a:rPr lang="en-US" sz="3889" spc="8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pso_traceback.py → PSO algorithm  </a:t>
            </a:r>
          </a:p>
          <a:p>
            <a:pPr algn="l" marL="703988" indent="-351994" lvl="1">
              <a:lnSpc>
                <a:spcPts val="3360"/>
              </a:lnSpc>
            </a:pPr>
          </a:p>
          <a:p>
            <a:pPr algn="l">
              <a:lnSpc>
                <a:spcPts val="336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538220" y="6209797"/>
            <a:ext cx="8222896" cy="266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9845" indent="-419923" lvl="1">
              <a:lnSpc>
                <a:spcPts val="4473"/>
              </a:lnSpc>
              <a:buFont typeface="Arial"/>
              <a:buChar char="•"/>
            </a:pPr>
            <a:r>
              <a:rPr lang="en-US" sz="3889" spc="120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performance_metrics.py → evaluation</a:t>
            </a:r>
          </a:p>
          <a:p>
            <a:pPr algn="l">
              <a:lnSpc>
                <a:spcPts val="2645"/>
              </a:lnSpc>
            </a:pPr>
            <a:r>
              <a:rPr lang="en-US" sz="3889" spc="120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  <a:p>
            <a:pPr algn="l" marL="839845" indent="-419923" lvl="1">
              <a:lnSpc>
                <a:spcPts val="4473"/>
              </a:lnSpc>
              <a:buFont typeface="Arial"/>
              <a:buChar char="•"/>
            </a:pPr>
            <a:r>
              <a:rPr lang="en-US" sz="3889" spc="120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visualization.py → graphs</a:t>
            </a:r>
          </a:p>
          <a:p>
            <a:pPr algn="l" marL="703988" indent="-351994" lvl="1">
              <a:lnSpc>
                <a:spcPts val="4473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91454" y="729357"/>
            <a:ext cx="15773400" cy="1096899"/>
            <a:chOff x="0" y="0"/>
            <a:chExt cx="21031200" cy="14625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1462533"/>
            </a:xfrm>
            <a:custGeom>
              <a:avLst/>
              <a:gdLst/>
              <a:ahLst/>
              <a:cxnLst/>
              <a:rect r="r" b="b" t="t" l="l"/>
              <a:pathLst>
                <a:path h="1462533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462533"/>
                  </a:lnTo>
                  <a:lnTo>
                    <a:pt x="0" y="14625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7989" r="0" b="-21239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57150"/>
              <a:ext cx="21031200" cy="1405382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 marL="0" indent="0" lvl="0">
                <a:lnSpc>
                  <a:spcPts val="5832"/>
                </a:lnSpc>
                <a:spcBef>
                  <a:spcPct val="0"/>
                </a:spcBef>
              </a:pPr>
              <a:r>
                <a:rPr lang="en-US" b="true" sz="5400" strike="noStrike" u="none">
                  <a:solidFill>
                    <a:srgbClr val="7F1114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Result: Sampling Validation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8026836" y="2007231"/>
            <a:ext cx="10017267" cy="7500429"/>
          </a:xfrm>
          <a:custGeom>
            <a:avLst/>
            <a:gdLst/>
            <a:ahLst/>
            <a:cxnLst/>
            <a:rect r="r" b="b" t="t" l="l"/>
            <a:pathLst>
              <a:path h="7500429" w="10017267">
                <a:moveTo>
                  <a:pt x="0" y="0"/>
                </a:moveTo>
                <a:lnTo>
                  <a:pt x="10017268" y="0"/>
                </a:lnTo>
                <a:lnTo>
                  <a:pt x="10017268" y="7500429"/>
                </a:lnTo>
                <a:lnTo>
                  <a:pt x="0" y="75004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91454" y="2927954"/>
            <a:ext cx="6951972" cy="531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0"/>
              </a:lnSpc>
            </a:pPr>
            <a:r>
              <a:rPr lang="en-US" sz="3559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Theoretical:</a:t>
            </a:r>
          </a:p>
          <a:p>
            <a:pPr algn="l" marL="644234" indent="-322117" lvl="1">
              <a:lnSpc>
                <a:spcPts val="3460"/>
              </a:lnSpc>
              <a:buFont typeface="Arial"/>
              <a:buChar char="•"/>
            </a:pPr>
            <a:r>
              <a:rPr lang="en-US" sz="355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Mean = 54 </a:t>
            </a:r>
          </a:p>
          <a:p>
            <a:pPr algn="l" marL="644234" indent="-322117" lvl="1">
              <a:lnSpc>
                <a:spcPts val="3460"/>
              </a:lnSpc>
              <a:buFont typeface="Arial"/>
              <a:buChar char="•"/>
            </a:pPr>
            <a:r>
              <a:rPr lang="en-US" sz="355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 = [40, 68] </a:t>
            </a:r>
          </a:p>
          <a:p>
            <a:pPr algn="l" marL="644234" indent="-322117" lvl="1">
              <a:lnSpc>
                <a:spcPts val="3460"/>
              </a:lnSpc>
            </a:pPr>
          </a:p>
          <a:p>
            <a:pPr algn="l">
              <a:lnSpc>
                <a:spcPts val="3460"/>
              </a:lnSpc>
            </a:pPr>
            <a:r>
              <a:rPr lang="en-US" b="true" sz="355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Observed:</a:t>
            </a:r>
          </a:p>
          <a:p>
            <a:pPr algn="l" marL="644234" indent="-322117" lvl="1">
              <a:lnSpc>
                <a:spcPts val="3460"/>
              </a:lnSpc>
              <a:buFont typeface="Arial"/>
              <a:buChar char="•"/>
            </a:pPr>
            <a:r>
              <a:rPr lang="en-US" sz="355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Mean ≈ 52.67 </a:t>
            </a:r>
          </a:p>
          <a:p>
            <a:pPr algn="l" marL="643782" indent="-321891" lvl="1">
              <a:lnSpc>
                <a:spcPts val="3460"/>
              </a:lnSpc>
              <a:buFont typeface="Arial"/>
              <a:buChar char="•"/>
            </a:pPr>
            <a:r>
              <a:rPr lang="en-US" sz="355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Lies within predicted range</a:t>
            </a:r>
          </a:p>
          <a:p>
            <a:pPr algn="l" marL="644234" indent="-322117" lvl="1">
              <a:lnSpc>
                <a:spcPts val="3460"/>
              </a:lnSpc>
              <a:buFont typeface="Arial"/>
              <a:buChar char="•"/>
            </a:pPr>
            <a:r>
              <a:rPr lang="en-US" sz="355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Matches theoretical CI [40, 68] ✔</a:t>
            </a:r>
            <a:r>
              <a:rPr lang="en-US" sz="355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  <a:p>
            <a:pPr algn="l" marL="644234" indent="-322117" lvl="1">
              <a:lnSpc>
                <a:spcPts val="3460"/>
              </a:lnSpc>
            </a:pPr>
          </a:p>
          <a:p>
            <a:pPr algn="l" marL="644234" indent="-322117" lvl="1">
              <a:lnSpc>
                <a:spcPts val="3460"/>
              </a:lnSpc>
            </a:pPr>
          </a:p>
          <a:p>
            <a:pPr algn="l">
              <a:lnSpc>
                <a:spcPts val="3460"/>
              </a:lnSpc>
            </a:pPr>
            <a:r>
              <a:rPr lang="en-US" sz="355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Probabilistic model is validated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91454" y="400050"/>
            <a:ext cx="15773400" cy="1096899"/>
            <a:chOff x="0" y="0"/>
            <a:chExt cx="21031200" cy="14625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1462533"/>
            </a:xfrm>
            <a:custGeom>
              <a:avLst/>
              <a:gdLst/>
              <a:ahLst/>
              <a:cxnLst/>
              <a:rect r="r" b="b" t="t" l="l"/>
              <a:pathLst>
                <a:path h="1462533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462533"/>
                  </a:lnTo>
                  <a:lnTo>
                    <a:pt x="0" y="14625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7989" r="0" b="-21239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57150"/>
              <a:ext cx="21031200" cy="1405382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 marL="0" indent="0" lvl="0">
                <a:lnSpc>
                  <a:spcPts val="5832"/>
                </a:lnSpc>
                <a:spcBef>
                  <a:spcPct val="0"/>
                </a:spcBef>
              </a:pPr>
              <a:r>
                <a:rPr lang="en-US" b="true" sz="5400" strike="noStrike" u="none">
                  <a:solidFill>
                    <a:srgbClr val="7F1114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Result: Traceback Performance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65083" y="2477186"/>
            <a:ext cx="7813072" cy="4865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0"/>
              </a:lnSpc>
            </a:pPr>
            <a:r>
              <a:rPr lang="en-US" sz="3899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Probabilistic (M4):</a:t>
            </a:r>
          </a:p>
          <a:p>
            <a:pPr algn="l" marL="705801" indent="-352901" lvl="1">
              <a:lnSpc>
                <a:spcPts val="3790"/>
              </a:lnSpc>
              <a:buFont typeface="Arial"/>
              <a:buChar char="•"/>
            </a:pPr>
            <a:r>
              <a:rPr lang="en-US" sz="3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Accuracy: 100% </a:t>
            </a:r>
          </a:p>
          <a:p>
            <a:pPr algn="l" marL="705801" indent="-352901" lvl="1">
              <a:lnSpc>
                <a:spcPts val="3790"/>
              </a:lnSpc>
              <a:buFont typeface="Arial"/>
              <a:buChar char="•"/>
            </a:pPr>
            <a:r>
              <a:rPr lang="en-US" sz="3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Coverage: ≈32.8% </a:t>
            </a:r>
          </a:p>
          <a:p>
            <a:pPr algn="l" marL="705801" indent="-352901" lvl="1">
              <a:lnSpc>
                <a:spcPts val="3790"/>
              </a:lnSpc>
              <a:buFont typeface="Arial"/>
              <a:buChar char="•"/>
            </a:pPr>
            <a:r>
              <a:rPr lang="en-US" sz="3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Packets stored: ~54 </a:t>
            </a:r>
          </a:p>
          <a:p>
            <a:pPr algn="l" marL="705801" indent="-352901" lvl="1">
              <a:lnSpc>
                <a:spcPts val="3790"/>
              </a:lnSpc>
            </a:pPr>
          </a:p>
          <a:p>
            <a:pPr algn="l" marL="705801" indent="-352901" lvl="1">
              <a:lnSpc>
                <a:spcPts val="3790"/>
              </a:lnSpc>
            </a:pPr>
            <a:r>
              <a:rPr lang="en-US" sz="3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~97% memory reduction</a:t>
            </a:r>
          </a:p>
          <a:p>
            <a:pPr algn="l" marL="705801" indent="-352901" lvl="1">
              <a:lnSpc>
                <a:spcPts val="3790"/>
              </a:lnSpc>
            </a:pPr>
          </a:p>
          <a:p>
            <a:pPr algn="l">
              <a:lnSpc>
                <a:spcPts val="3790"/>
              </a:lnSpc>
            </a:pPr>
            <a:r>
              <a:rPr lang="en-US" b="true" sz="38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Comparison with Deterministic (M3):</a:t>
            </a:r>
          </a:p>
          <a:p>
            <a:pPr algn="l" marL="705801" indent="-352901" lvl="1">
              <a:lnSpc>
                <a:spcPts val="3790"/>
              </a:lnSpc>
              <a:buFont typeface="Arial"/>
              <a:buChar char="•"/>
            </a:pPr>
            <a:r>
              <a:rPr lang="en-US" sz="3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Same accuracy </a:t>
            </a:r>
          </a:p>
          <a:p>
            <a:pPr algn="l" marL="705801" indent="-352901" lvl="1">
              <a:lnSpc>
                <a:spcPts val="3790"/>
              </a:lnSpc>
              <a:buFont typeface="Arial"/>
              <a:buChar char="•"/>
            </a:pPr>
            <a:r>
              <a:rPr lang="en-US" sz="3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Much lower storage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778154" y="1956224"/>
            <a:ext cx="9311237" cy="6374552"/>
          </a:xfrm>
          <a:custGeom>
            <a:avLst/>
            <a:gdLst/>
            <a:ahLst/>
            <a:cxnLst/>
            <a:rect r="r" b="b" t="t" l="l"/>
            <a:pathLst>
              <a:path h="6374552" w="9311237">
                <a:moveTo>
                  <a:pt x="0" y="0"/>
                </a:moveTo>
                <a:lnTo>
                  <a:pt x="9311237" y="0"/>
                </a:lnTo>
                <a:lnTo>
                  <a:pt x="9311237" y="6374552"/>
                </a:lnTo>
                <a:lnTo>
                  <a:pt x="0" y="63745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6776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62581" y="542433"/>
            <a:ext cx="11993431" cy="1830324"/>
            <a:chOff x="0" y="0"/>
            <a:chExt cx="15991241" cy="24404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991241" cy="2440438"/>
            </a:xfrm>
            <a:custGeom>
              <a:avLst/>
              <a:gdLst/>
              <a:ahLst/>
              <a:cxnLst/>
              <a:rect r="r" b="b" t="t" l="l"/>
              <a:pathLst>
                <a:path h="2440438" w="15991241">
                  <a:moveTo>
                    <a:pt x="0" y="0"/>
                  </a:moveTo>
                  <a:lnTo>
                    <a:pt x="15991241" y="0"/>
                  </a:lnTo>
                  <a:lnTo>
                    <a:pt x="15991241" y="2440438"/>
                  </a:lnTo>
                  <a:lnTo>
                    <a:pt x="0" y="2440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1700" r="-31516" b="-8413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57150"/>
              <a:ext cx="15991241" cy="2383282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 marL="0" indent="0" lvl="0">
                <a:lnSpc>
                  <a:spcPts val="5832"/>
                </a:lnSpc>
                <a:spcBef>
                  <a:spcPct val="0"/>
                </a:spcBef>
              </a:pPr>
              <a:r>
                <a:rPr lang="en-US" b="true" sz="5400">
                  <a:solidFill>
                    <a:srgbClr val="7F1114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Inference: Domain Perspective (Networking / Security)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48740" y="2525157"/>
            <a:ext cx="15590520" cy="6533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6" indent="-399413" lvl="1">
              <a:lnSpc>
                <a:spcPts val="3921"/>
              </a:lnSpc>
              <a:buFont typeface="Arial"/>
              <a:buChar char="•"/>
            </a:pPr>
            <a:r>
              <a:rPr lang="en-US" sz="3699" spc="99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Demonstrates that full packet logging is not strictly necessary for reliable IP traceback in this topology: 3% sampled data suffices for 100% reconstruction.</a:t>
            </a:r>
          </a:p>
          <a:p>
            <a:pPr algn="l">
              <a:lnSpc>
                <a:spcPts val="3921"/>
              </a:lnSpc>
            </a:pPr>
          </a:p>
          <a:p>
            <a:pPr algn="l" marL="798826" indent="-399413" lvl="1">
              <a:lnSpc>
                <a:spcPts val="3921"/>
              </a:lnSpc>
              <a:buFont typeface="Arial"/>
              <a:buChar char="•"/>
            </a:pPr>
            <a:r>
              <a:rPr lang="en-US" sz="3699" spc="99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Shows PSO‑IPTBK is robust to missing data: can still identify attackers using sparse evidence.</a:t>
            </a:r>
          </a:p>
          <a:p>
            <a:pPr algn="l">
              <a:lnSpc>
                <a:spcPts val="3921"/>
              </a:lnSpc>
            </a:pPr>
          </a:p>
          <a:p>
            <a:pPr algn="l" marL="798826" indent="-399413" lvl="1">
              <a:lnSpc>
                <a:spcPts val="3921"/>
              </a:lnSpc>
              <a:buFont typeface="Arial"/>
              <a:buChar char="•"/>
            </a:pPr>
            <a:r>
              <a:rPr lang="en-US" sz="3699" spc="99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Potential benefits for real networks:</a:t>
            </a:r>
          </a:p>
          <a:p>
            <a:pPr algn="l" marL="798826" indent="-399413" lvl="1">
              <a:lnSpc>
                <a:spcPts val="3921"/>
              </a:lnSpc>
              <a:buFont typeface="Arial"/>
              <a:buChar char="•"/>
            </a:pPr>
            <a:r>
              <a:rPr lang="en-US" sz="3699" spc="99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Reduced storage and logging overhead on routers.</a:t>
            </a:r>
          </a:p>
          <a:p>
            <a:pPr algn="l" marL="798826" indent="-399413" lvl="1">
              <a:lnSpc>
                <a:spcPts val="3921"/>
              </a:lnSpc>
              <a:buFont typeface="Arial"/>
              <a:buChar char="•"/>
            </a:pPr>
            <a:r>
              <a:rPr lang="en-US" sz="3699" spc="99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Feasibility for resource‑constrained or IoT‑heavy environments.</a:t>
            </a:r>
          </a:p>
          <a:p>
            <a:pPr algn="l">
              <a:lnSpc>
                <a:spcPts val="3921"/>
              </a:lnSpc>
            </a:pPr>
          </a:p>
          <a:p>
            <a:pPr algn="l" marL="798826" indent="-399413" lvl="1">
              <a:lnSpc>
                <a:spcPts val="3921"/>
              </a:lnSpc>
              <a:buFont typeface="Arial"/>
              <a:buChar char="•"/>
            </a:pPr>
            <a:r>
              <a:rPr lang="en-US" sz="3699" spc="99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Alignment with original PSO‑IPTBK idea: reconstruct likely routes from measurement data 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05886" y="1036080"/>
            <a:ext cx="13361222" cy="1096899"/>
            <a:chOff x="0" y="0"/>
            <a:chExt cx="17814963" cy="14625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814964" cy="1462538"/>
            </a:xfrm>
            <a:custGeom>
              <a:avLst/>
              <a:gdLst/>
              <a:ahLst/>
              <a:cxnLst/>
              <a:rect r="r" b="b" t="t" l="l"/>
              <a:pathLst>
                <a:path h="1462538" w="17814964">
                  <a:moveTo>
                    <a:pt x="0" y="0"/>
                  </a:moveTo>
                  <a:lnTo>
                    <a:pt x="17814964" y="0"/>
                  </a:lnTo>
                  <a:lnTo>
                    <a:pt x="17814964" y="1462538"/>
                  </a:lnTo>
                  <a:lnTo>
                    <a:pt x="0" y="14625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3133" r="-18053" b="-20725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57150"/>
              <a:ext cx="17814963" cy="1405382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 marL="0" indent="0" lvl="0">
                <a:lnSpc>
                  <a:spcPts val="5832"/>
                </a:lnSpc>
                <a:spcBef>
                  <a:spcPct val="0"/>
                </a:spcBef>
              </a:pPr>
              <a:r>
                <a:rPr lang="en-US" b="true" sz="5400">
                  <a:solidFill>
                    <a:srgbClr val="7F1114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 Inference: Computer Science Perspective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205886" y="2830181"/>
            <a:ext cx="15590520" cy="4944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98826" indent="-399413" lvl="1">
              <a:lnSpc>
                <a:spcPts val="4809"/>
              </a:lnSpc>
              <a:buFont typeface="Arial"/>
              <a:buChar char="•"/>
            </a:pPr>
            <a:r>
              <a:rPr lang="en-US" sz="3699" spc="19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Tw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imul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at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ar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hit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ect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ur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 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a p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at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ter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n: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d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iscrete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event network 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+ 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agent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based swarm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.</a:t>
            </a:r>
          </a:p>
          <a:p>
            <a:pPr algn="just" marL="798826" indent="-399413" lvl="1">
              <a:lnSpc>
                <a:spcPts val="4809"/>
              </a:lnSpc>
              <a:buFont typeface="Arial"/>
              <a:buChar char="•"/>
            </a:pP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Dem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ns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at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es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ll pi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 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ro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 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probabilistic 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delin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(M2) → d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ete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is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ic b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sel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(M3) → 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probabilistic im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ement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ation 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(M4) w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it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validat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.</a:t>
            </a:r>
          </a:p>
          <a:p>
            <a:pPr algn="just" marL="798826" indent="-399413" lvl="1">
              <a:lnSpc>
                <a:spcPts val="4809"/>
              </a:lnSpc>
              <a:buFont typeface="Arial"/>
              <a:buChar char="•"/>
            </a:pP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gh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lig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ts 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random variables, independence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assum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tio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ns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, a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distributions di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ct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ly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form s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y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stem 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si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 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ri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</a:t>
            </a:r>
            <a:r>
              <a:rPr lang="en-US" sz="3699" spc="196" strike="noStrike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s.</a:t>
            </a:r>
          </a:p>
          <a:p>
            <a:pPr algn="just">
              <a:lnSpc>
                <a:spcPts val="4809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896874"/>
            <a:ext cx="15773400" cy="1830324"/>
            <a:chOff x="0" y="0"/>
            <a:chExt cx="21031200" cy="24404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2440438"/>
            </a:xfrm>
            <a:custGeom>
              <a:avLst/>
              <a:gdLst/>
              <a:ahLst/>
              <a:cxnLst/>
              <a:rect r="r" b="b" t="t" l="l"/>
              <a:pathLst>
                <a:path h="2440438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440438"/>
                  </a:lnTo>
                  <a:lnTo>
                    <a:pt x="0" y="2440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1700" r="0" b="-8413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57150"/>
              <a:ext cx="21031200" cy="2383282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 marL="0" indent="0" lvl="0">
                <a:lnSpc>
                  <a:spcPts val="5832"/>
                </a:lnSpc>
                <a:spcBef>
                  <a:spcPct val="0"/>
                </a:spcBef>
              </a:pPr>
              <a:r>
                <a:rPr lang="en-US" b="true" sz="5400" strike="noStrike" u="none">
                  <a:solidFill>
                    <a:srgbClr val="7F1114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Problem &amp; Setup For The Hypothetical Case Study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38220" y="2803398"/>
            <a:ext cx="17026812" cy="3662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72"/>
              </a:lnSpc>
            </a:pPr>
          </a:p>
          <a:p>
            <a:pPr algn="l" marL="798829" indent="-399415" lvl="1">
              <a:lnSpc>
                <a:spcPts val="4772"/>
              </a:lnSpc>
              <a:buFont typeface="Arial"/>
              <a:buChar char="•"/>
            </a:pPr>
            <a:r>
              <a:rPr lang="en-US" sz="3699" spc="19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ISPs can't store all packets, so only 3% are sampled</a:t>
            </a:r>
          </a:p>
          <a:p>
            <a:pPr algn="l" marL="798829" indent="-399415" lvl="1">
              <a:lnSpc>
                <a:spcPts val="4772"/>
              </a:lnSpc>
              <a:buFont typeface="Arial"/>
              <a:buChar char="•"/>
            </a:pPr>
            <a:r>
              <a:rPr lang="en-US" sz="3699" spc="19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Network: 24 nodes, 9 attackers, 1,800 packets, 1 victim</a:t>
            </a:r>
          </a:p>
          <a:p>
            <a:pPr algn="l" marL="798829" indent="-399415" lvl="1">
              <a:lnSpc>
                <a:spcPts val="4772"/>
              </a:lnSpc>
              <a:buFont typeface="Arial"/>
              <a:buChar char="•"/>
            </a:pPr>
            <a:r>
              <a:rPr lang="en-US" sz="3699" spc="19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S_i ~ Bernoulli(0.03) — was this packet logged?</a:t>
            </a:r>
          </a:p>
          <a:p>
            <a:pPr algn="l" marL="798829" indent="-399415" lvl="1">
              <a:lnSpc>
                <a:spcPts val="4772"/>
              </a:lnSpc>
              <a:buFont typeface="Arial"/>
              <a:buChar char="•"/>
            </a:pPr>
            <a:r>
              <a:rPr lang="en-US" sz="3699" spc="19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 ~ Binomial(1800, 0.03) — how many packets total? E[N] = 54</a:t>
            </a:r>
          </a:p>
          <a:p>
            <a:pPr algn="l" marL="798829" indent="-399415" lvl="1">
              <a:lnSpc>
                <a:spcPts val="4772"/>
              </a:lnSpc>
              <a:buFont typeface="Arial"/>
              <a:buChar char="•"/>
            </a:pPr>
            <a:r>
              <a:rPr lang="en-US" sz="3699" spc="19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r₁, r₂ ~ Uniform(0,1) — PSO's random search weights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0078" y="770138"/>
            <a:ext cx="15773400" cy="1830324"/>
            <a:chOff x="0" y="0"/>
            <a:chExt cx="21031200" cy="24404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2440438"/>
            </a:xfrm>
            <a:custGeom>
              <a:avLst/>
              <a:gdLst/>
              <a:ahLst/>
              <a:cxnLst/>
              <a:rect r="r" b="b" t="t" l="l"/>
              <a:pathLst>
                <a:path h="2440438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440438"/>
                  </a:lnTo>
                  <a:lnTo>
                    <a:pt x="0" y="2440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1700" r="0" b="-8413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57150"/>
              <a:ext cx="21031200" cy="2383282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 marL="0" indent="0" lvl="0">
                <a:lnSpc>
                  <a:spcPts val="5832"/>
                </a:lnSpc>
                <a:spcBef>
                  <a:spcPct val="0"/>
                </a:spcBef>
              </a:pPr>
              <a:r>
                <a:rPr lang="en-US" b="true" sz="5400" strike="noStrike" u="none">
                  <a:solidFill>
                    <a:srgbClr val="7F1114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Analysis &amp; Results For The Hypothetical Case Study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20078" y="2770991"/>
            <a:ext cx="15516153" cy="538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61"/>
              </a:lnSpc>
            </a:pPr>
          </a:p>
          <a:p>
            <a:pPr algn="l" marL="798829" indent="-399415" lvl="1">
              <a:lnSpc>
                <a:spcPts val="4661"/>
              </a:lnSpc>
              <a:buFont typeface="Arial"/>
              <a:buChar char="•"/>
            </a:pPr>
            <a:r>
              <a:rPr lang="en-US" sz="3699" spc="19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Mean vector μ = [0.03, 54, 0.5, 0.5]</a:t>
            </a:r>
          </a:p>
          <a:p>
            <a:pPr algn="l" marL="798829" indent="-399415" lvl="1">
              <a:lnSpc>
                <a:spcPts val="4661"/>
              </a:lnSpc>
              <a:buFont typeface="Arial"/>
              <a:buChar char="•"/>
            </a:pPr>
            <a:r>
              <a:rPr lang="en-US" sz="3699" spc="19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All variables are independent — Cov(S_i, S_j) = 0, Cov(r₁, r₂) = 0</a:t>
            </a:r>
          </a:p>
          <a:p>
            <a:pPr algn="l" marL="798829" indent="-399415" lvl="1">
              <a:lnSpc>
                <a:spcPts val="4661"/>
              </a:lnSpc>
              <a:buFont typeface="Arial"/>
              <a:buChar char="•"/>
            </a:pPr>
            <a:r>
              <a:rPr lang="en-US" sz="3699" spc="19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PSO uses r₁, r₂ to balance personal vs swarm learning each iteration</a:t>
            </a:r>
          </a:p>
          <a:p>
            <a:pPr algn="l" marL="798829" indent="-399415" lvl="1">
              <a:lnSpc>
                <a:spcPts val="4661"/>
              </a:lnSpc>
              <a:buFont typeface="Arial"/>
              <a:buChar char="•"/>
            </a:pPr>
            <a:r>
              <a:rPr lang="en-US" sz="3699" spc="19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Coverage metric = sampled packets along path ÷ total sampled packets</a:t>
            </a:r>
          </a:p>
          <a:p>
            <a:pPr algn="l" marL="798829" indent="-399415" lvl="1">
              <a:lnSpc>
                <a:spcPts val="4661"/>
              </a:lnSpc>
              <a:buFont typeface="Arial"/>
              <a:buChar char="•"/>
            </a:pPr>
            <a:r>
              <a:rPr lang="en-US" sz="3699" spc="19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Result: 100% accuracy, 97% memory savings, converges in ~51 iterations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569103"/>
            <a:ext cx="15773400" cy="1096899"/>
            <a:chOff x="0" y="0"/>
            <a:chExt cx="21031200" cy="14625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1462525"/>
            </a:xfrm>
            <a:custGeom>
              <a:avLst/>
              <a:gdLst/>
              <a:ahLst/>
              <a:cxnLst/>
              <a:rect r="r" b="b" t="t" l="l"/>
              <a:pathLst>
                <a:path h="1462525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462525"/>
                  </a:lnTo>
                  <a:lnTo>
                    <a:pt x="0" y="14625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4410" r="0" b="-20598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57150"/>
              <a:ext cx="21031200" cy="1405382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 marL="0" indent="0" lvl="0">
                <a:lnSpc>
                  <a:spcPts val="5832"/>
                </a:lnSpc>
                <a:spcBef>
                  <a:spcPct val="0"/>
                </a:spcBef>
              </a:pPr>
              <a:r>
                <a:rPr lang="en-US" b="true" sz="5400" strike="noStrike" u="none">
                  <a:solidFill>
                    <a:srgbClr val="7F1114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Conclusion &amp; Future Work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74334" y="1713627"/>
            <a:ext cx="15590520" cy="734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1"/>
              </a:lnSpc>
            </a:pPr>
            <a:r>
              <a:rPr lang="en-US" b="true" sz="3699" spc="147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Conclusion:</a:t>
            </a:r>
          </a:p>
          <a:p>
            <a:pPr algn="l" marL="669607" indent="-334804" lvl="1">
              <a:lnSpc>
                <a:spcPts val="5031"/>
              </a:lnSpc>
              <a:buFont typeface="Arial"/>
              <a:buChar char="•"/>
            </a:pPr>
            <a:r>
              <a:rPr lang="en-US" sz="3699" spc="14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Developed deterministic and probabilistic models </a:t>
            </a:r>
          </a:p>
          <a:p>
            <a:pPr algn="l" marL="669607" indent="-334804" lvl="1">
              <a:lnSpc>
                <a:spcPts val="5031"/>
              </a:lnSpc>
              <a:buFont typeface="Arial"/>
              <a:buChar char="•"/>
            </a:pPr>
            <a:r>
              <a:rPr lang="en-US" sz="3699" spc="14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Achieved high accuracy with minimal data </a:t>
            </a:r>
          </a:p>
          <a:p>
            <a:pPr algn="l" marL="669607" indent="-334804" lvl="1">
              <a:lnSpc>
                <a:spcPts val="5031"/>
              </a:lnSpc>
              <a:buFont typeface="Arial"/>
              <a:buChar char="•"/>
            </a:pPr>
            <a:r>
              <a:rPr lang="en-US" sz="3699" spc="14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Validated theoretical predictions </a:t>
            </a:r>
          </a:p>
          <a:p>
            <a:pPr algn="l">
              <a:lnSpc>
                <a:spcPts val="3588"/>
              </a:lnSpc>
            </a:pPr>
          </a:p>
          <a:p>
            <a:pPr algn="l">
              <a:lnSpc>
                <a:spcPts val="5031"/>
              </a:lnSpc>
            </a:pPr>
            <a:r>
              <a:rPr lang="en-US" b="true" sz="3699" spc="147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Future Work:</a:t>
            </a:r>
          </a:p>
          <a:p>
            <a:pPr algn="l" marL="669607" indent="-334804" lvl="1">
              <a:lnSpc>
                <a:spcPts val="5031"/>
              </a:lnSpc>
              <a:buFont typeface="Arial"/>
              <a:buChar char="•"/>
            </a:pPr>
            <a:r>
              <a:rPr lang="en-US" sz="3699" spc="14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Larger network topologies </a:t>
            </a:r>
          </a:p>
          <a:p>
            <a:pPr algn="l" marL="669607" indent="-334804" lvl="1">
              <a:lnSpc>
                <a:spcPts val="5031"/>
              </a:lnSpc>
              <a:buFont typeface="Arial"/>
              <a:buChar char="•"/>
            </a:pPr>
            <a:r>
              <a:rPr lang="en-US" sz="3699" spc="14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Adaptive sampling strategies </a:t>
            </a:r>
          </a:p>
          <a:p>
            <a:pPr algn="l">
              <a:lnSpc>
                <a:spcPts val="5031"/>
              </a:lnSpc>
            </a:pPr>
            <a:r>
              <a:rPr lang="en-US" sz="3699" spc="14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Real-world traffic data </a:t>
            </a:r>
          </a:p>
          <a:p>
            <a:pPr algn="l" marL="669607" indent="-334804" lvl="1">
              <a:lnSpc>
                <a:spcPts val="3662"/>
              </a:lnSpc>
            </a:pPr>
          </a:p>
          <a:p>
            <a:pPr algn="l">
              <a:lnSpc>
                <a:spcPts val="5031"/>
              </a:lnSpc>
            </a:pPr>
            <a:r>
              <a:rPr lang="en-US" b="true" sz="3699" spc="147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Final Takeaway:</a:t>
            </a:r>
          </a:p>
          <a:p>
            <a:pPr algn="l" marL="669607" indent="-334804" lvl="1">
              <a:lnSpc>
                <a:spcPts val="5031"/>
              </a:lnSpc>
            </a:pPr>
            <a:r>
              <a:rPr lang="en-US" sz="3699" spc="14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Probabilistic modeling enables scalable and accurate traceback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647843"/>
            <a:ext cx="15773400" cy="1096899"/>
            <a:chOff x="0" y="0"/>
            <a:chExt cx="21031200" cy="14625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1462524"/>
            </a:xfrm>
            <a:custGeom>
              <a:avLst/>
              <a:gdLst/>
              <a:ahLst/>
              <a:cxnLst/>
              <a:rect r="r" b="b" t="t" l="l"/>
              <a:pathLst>
                <a:path h="1462524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462524"/>
                  </a:lnTo>
                  <a:lnTo>
                    <a:pt x="0" y="14625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7352" r="0" b="-21303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57150"/>
              <a:ext cx="21031200" cy="1405382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 marL="0" indent="0" lvl="0">
                <a:lnSpc>
                  <a:spcPts val="5832"/>
                </a:lnSpc>
                <a:spcBef>
                  <a:spcPct val="0"/>
                </a:spcBef>
              </a:pPr>
              <a:r>
                <a:rPr lang="en-US" b="true" sz="5400" strike="noStrike" u="none">
                  <a:solidFill>
                    <a:srgbClr val="7F1114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References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48441" y="2119120"/>
            <a:ext cx="15590520" cy="444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5801" indent="-352901" lvl="1">
              <a:lnSpc>
                <a:spcPts val="5849"/>
              </a:lnSpc>
              <a:buFont typeface="Arial"/>
              <a:buChar char="•"/>
            </a:pPr>
            <a:r>
              <a:rPr lang="en-US" sz="3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Lin, H., Wang, P., &amp; Lin, W. (2019).</a:t>
            </a:r>
          </a:p>
          <a:p>
            <a:pPr algn="l">
              <a:lnSpc>
                <a:spcPts val="5849"/>
              </a:lnSpc>
            </a:pPr>
            <a:r>
              <a:rPr lang="en-US" sz="3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Implementation of a PSO-Based Security Defense Mechanism for Tracing DDoS Sources.</a:t>
            </a:r>
          </a:p>
          <a:p>
            <a:pPr algn="l" marL="842008" indent="-421004" lvl="1">
              <a:lnSpc>
                <a:spcPts val="5849"/>
              </a:lnSpc>
              <a:buFont typeface="Arial"/>
              <a:buChar char="•"/>
            </a:pPr>
            <a:r>
              <a:rPr lang="en-US" sz="3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https://www.youtube.com/watch?v=JhgDMAm-imI</a:t>
            </a:r>
          </a:p>
          <a:p>
            <a:pPr algn="l" marL="842008" indent="-421004" lvl="1">
              <a:lnSpc>
                <a:spcPts val="5849"/>
              </a:lnSpc>
              <a:buFont typeface="Arial"/>
              <a:buChar char="•"/>
            </a:pPr>
            <a:r>
              <a:rPr lang="en-US" sz="3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https://www.youtube.com/watch?v=vhSBqk6SAB4</a:t>
            </a:r>
          </a:p>
          <a:p>
            <a:pPr algn="l">
              <a:lnSpc>
                <a:spcPts val="5849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DAHFaa1sYf0</dc:identifier>
  <dcterms:modified xsi:type="dcterms:W3CDTF">2011-08-01T06:04:30Z</dcterms:modified>
  <cp:revision>1</cp:revision>
  <dc:title>Final_Viva_Presentation.pptx</dc:title>
</cp:coreProperties>
</file>